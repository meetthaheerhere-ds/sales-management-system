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5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7" r:id="rId20"/>
    <p:sldId id="278" r:id="rId21"/>
    <p:sldId id="279" r:id="rId22"/>
    <p:sldId id="280" r:id="rId23"/>
    <p:sldId id="28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6D4E5-74D9-4707-BD64-9D808AD7B597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5D52-57A5-4C55-962E-4332BE663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02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5D52-57A5-4C55-962E-4332BE66335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078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5D52-57A5-4C55-962E-4332BE66335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046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5D52-57A5-4C55-962E-4332BE66335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57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75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661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35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49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429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49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775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250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4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64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11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2752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081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368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527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600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42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DA130B5-C4A9-4A3B-BA94-51540732079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21EE5-561E-401C-BF5C-BA750A610C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6294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E0E17-B8F5-CBC5-7025-CCC4E1A1D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" y="1524001"/>
            <a:ext cx="9744393" cy="2095499"/>
          </a:xfrm>
        </p:spPr>
        <p:txBody>
          <a:bodyPr/>
          <a:lstStyle/>
          <a:p>
            <a:r>
              <a:rPr lang="en-IN" dirty="0"/>
              <a:t>Sales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1FD6D-386C-FCA5-DD57-8E7D40599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220" y="3802380"/>
            <a:ext cx="9393873" cy="2613660"/>
          </a:xfrm>
        </p:spPr>
        <p:txBody>
          <a:bodyPr>
            <a:normAutofit/>
          </a:bodyPr>
          <a:lstStyle/>
          <a:p>
            <a:r>
              <a:rPr lang="en-US" i="1" dirty="0"/>
              <a:t>Mini Project Presentation</a:t>
            </a:r>
            <a:endParaRPr lang="en-US" dirty="0"/>
          </a:p>
          <a:p>
            <a:r>
              <a:rPr lang="en-US" b="1" dirty="0"/>
              <a:t>Presented by:</a:t>
            </a:r>
            <a:br>
              <a:rPr lang="en-US" dirty="0"/>
            </a:br>
            <a:r>
              <a:rPr lang="en-US" dirty="0"/>
              <a:t>Thaheer</a:t>
            </a:r>
            <a:br>
              <a:rPr lang="en-US" dirty="0"/>
            </a:br>
            <a:r>
              <a:rPr lang="en-US" dirty="0"/>
              <a:t>Course: (Data Science)</a:t>
            </a:r>
            <a:br>
              <a:rPr lang="en-US" dirty="0"/>
            </a:br>
            <a:r>
              <a:rPr lang="en-US" dirty="0"/>
              <a:t>Institution: GUVI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98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7C292-448B-00BD-31F4-40ADFD4A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9C0F0-22FA-1824-7DB1-DF33F18B3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" y="1775460"/>
            <a:ext cx="11132819" cy="4184117"/>
          </a:xfrm>
        </p:spPr>
        <p:txBody>
          <a:bodyPr/>
          <a:lstStyle/>
          <a:p>
            <a:r>
              <a:rPr lang="en-US" b="1" dirty="0"/>
              <a:t>Problem Statement</a:t>
            </a:r>
            <a:endParaRPr lang="en-US" dirty="0"/>
          </a:p>
          <a:p>
            <a:r>
              <a:rPr lang="en-US" dirty="0"/>
              <a:t>Manual sales tracking is inefficient</a:t>
            </a:r>
          </a:p>
          <a:p>
            <a:r>
              <a:rPr lang="en-US" dirty="0"/>
              <a:t>Difficult to track payments</a:t>
            </a:r>
          </a:p>
          <a:p>
            <a:r>
              <a:rPr lang="en-US" dirty="0"/>
              <a:t>Errors in calculating pending amount</a:t>
            </a:r>
          </a:p>
          <a:p>
            <a:r>
              <a:rPr lang="en-US" dirty="0"/>
              <a:t>No centralized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3435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6488-7B84-F1F9-411B-C82B9DB6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34198-C250-F634-E8DF-ABA2011A4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 of the Project</a:t>
            </a:r>
            <a:endParaRPr lang="en-US" dirty="0"/>
          </a:p>
          <a:p>
            <a:r>
              <a:rPr lang="en-US" dirty="0"/>
              <a:t>Manage customer sales efficiently</a:t>
            </a:r>
          </a:p>
          <a:p>
            <a:r>
              <a:rPr lang="en-US" dirty="0"/>
              <a:t>Track received and pending payments</a:t>
            </a:r>
          </a:p>
          <a:p>
            <a:r>
              <a:rPr lang="en-US" dirty="0"/>
              <a:t>Automate calculations</a:t>
            </a:r>
          </a:p>
          <a:p>
            <a:r>
              <a:rPr lang="en-US" dirty="0"/>
              <a:t>Provide a simple dashboard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6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03A9F-51C3-FE1F-7D51-A8C555B3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5E4BF-D48C-09A9-DC1F-33F9C5ADE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Technologies Used</a:t>
            </a:r>
            <a:endParaRPr lang="en-IN" dirty="0"/>
          </a:p>
          <a:p>
            <a:r>
              <a:rPr lang="en-IN" dirty="0"/>
              <a:t>MySQL → Database Management</a:t>
            </a:r>
          </a:p>
          <a:p>
            <a:r>
              <a:rPr lang="en-IN" dirty="0"/>
              <a:t>Python → Backend Logic</a:t>
            </a:r>
          </a:p>
          <a:p>
            <a:r>
              <a:rPr lang="en-IN" dirty="0" err="1"/>
              <a:t>Streamlit</a:t>
            </a:r>
            <a:r>
              <a:rPr lang="en-IN" dirty="0"/>
              <a:t> → Frontend UI</a:t>
            </a:r>
          </a:p>
          <a:p>
            <a:r>
              <a:rPr lang="en-IN" dirty="0"/>
              <a:t>Pandas → Data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801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1B723-1322-9E42-BD72-7DF2B2854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E8664-8777-2235-BA5C-BEAA9218A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34440"/>
            <a:ext cx="9806013" cy="5013959"/>
          </a:xfrm>
        </p:spPr>
        <p:txBody>
          <a:bodyPr>
            <a:normAutofit/>
          </a:bodyPr>
          <a:lstStyle/>
          <a:p>
            <a:r>
              <a:rPr lang="en-US" b="1" dirty="0"/>
              <a:t>Database Design</a:t>
            </a:r>
            <a:endParaRPr lang="en-US" dirty="0"/>
          </a:p>
          <a:p>
            <a:r>
              <a:rPr lang="en-US" dirty="0"/>
              <a:t>Tables Created:</a:t>
            </a:r>
          </a:p>
          <a:p>
            <a:r>
              <a:rPr lang="en-US" dirty="0"/>
              <a:t>branches</a:t>
            </a:r>
          </a:p>
          <a:p>
            <a:r>
              <a:rPr lang="en-US" dirty="0"/>
              <a:t>users</a:t>
            </a:r>
          </a:p>
          <a:p>
            <a:r>
              <a:rPr lang="en-US" dirty="0" err="1"/>
              <a:t>customer_sales</a:t>
            </a:r>
            <a:endParaRPr lang="en-US" dirty="0"/>
          </a:p>
          <a:p>
            <a:r>
              <a:rPr lang="en-US" dirty="0" err="1"/>
              <a:t>payment_splits</a:t>
            </a:r>
            <a:endParaRPr lang="en-US" dirty="0"/>
          </a:p>
          <a:p>
            <a:r>
              <a:rPr lang="en-US" b="1" dirty="0"/>
              <a:t>Relationships:</a:t>
            </a:r>
            <a:endParaRPr lang="en-US" dirty="0"/>
          </a:p>
          <a:p>
            <a:r>
              <a:rPr lang="en-US" dirty="0"/>
              <a:t>Foreign keys used to connect tables</a:t>
            </a:r>
          </a:p>
          <a:p>
            <a:r>
              <a:rPr lang="en-US" dirty="0"/>
              <a:t>Ensures data consistency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557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781C-076F-EF45-DAC2-F09030686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304800"/>
            <a:ext cx="11155680" cy="868680"/>
          </a:xfrm>
        </p:spPr>
        <p:txBody>
          <a:bodyPr/>
          <a:lstStyle/>
          <a:p>
            <a:r>
              <a:rPr lang="en-IN" dirty="0"/>
              <a:t>  Database Tables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CA720-AD8B-CB6B-4BC3-B3DD3F2C8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75460"/>
            <a:ext cx="10609006" cy="433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93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1F654-DF4D-B3D0-4AA5-A9B925949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E57C0-C93E-E528-E959-6946F290C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853248"/>
            <a:ext cx="9603770" cy="3998913"/>
          </a:xfrm>
        </p:spPr>
        <p:txBody>
          <a:bodyPr>
            <a:normAutofit fontScale="92500" lnSpcReduction="20000"/>
          </a:bodyPr>
          <a:lstStyle/>
          <a:p>
            <a:r>
              <a:rPr lang="en-IN" sz="4400" dirty="0"/>
              <a:t>User</a:t>
            </a:r>
            <a:br>
              <a:rPr lang="en-IN" sz="4400" dirty="0"/>
            </a:br>
            <a:r>
              <a:rPr lang="en-IN" sz="4400" dirty="0"/>
              <a:t>⬇</a:t>
            </a:r>
          </a:p>
          <a:p>
            <a:r>
              <a:rPr lang="en-IN" sz="4400" dirty="0" err="1"/>
              <a:t>Streamlit</a:t>
            </a:r>
            <a:r>
              <a:rPr lang="en-IN" sz="4400" dirty="0"/>
              <a:t> Interface</a:t>
            </a:r>
            <a:br>
              <a:rPr lang="en-IN" sz="4400" dirty="0"/>
            </a:br>
            <a:r>
              <a:rPr lang="en-IN" sz="4400" dirty="0"/>
              <a:t>⬇</a:t>
            </a:r>
          </a:p>
          <a:p>
            <a:r>
              <a:rPr lang="en-IN" sz="4400" dirty="0"/>
              <a:t>Python Backend</a:t>
            </a:r>
            <a:br>
              <a:rPr lang="en-IN" sz="4400" dirty="0"/>
            </a:br>
            <a:r>
              <a:rPr lang="en-IN" sz="4400" dirty="0"/>
              <a:t>⬇</a:t>
            </a:r>
          </a:p>
          <a:p>
            <a:r>
              <a:rPr lang="en-IN" sz="4400" dirty="0"/>
              <a:t>MySQL Database</a:t>
            </a:r>
          </a:p>
        </p:txBody>
      </p:sp>
    </p:spTree>
    <p:extLst>
      <p:ext uri="{BB962C8B-B14F-4D97-AF65-F5344CB8AC3E}">
        <p14:creationId xmlns:p14="http://schemas.microsoft.com/office/powerpoint/2010/main" val="975306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E27D-B7A9-5D2E-A9FF-7C0F5DB8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DCC27-07CE-84FA-251C-57F23DE2A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Triggers automatically update:</a:t>
            </a:r>
          </a:p>
          <a:p>
            <a:r>
              <a:rPr lang="en-US" dirty="0" err="1"/>
              <a:t>received_amount</a:t>
            </a:r>
            <a:endParaRPr lang="en-US" dirty="0"/>
          </a:p>
          <a:p>
            <a:r>
              <a:rPr lang="en-US" dirty="0" err="1"/>
              <a:t>pending_amount</a:t>
            </a:r>
            <a:endParaRPr lang="en-US" dirty="0"/>
          </a:p>
          <a:p>
            <a:r>
              <a:rPr lang="en-US" dirty="0"/>
              <a:t>status (Open / Close)</a:t>
            </a:r>
          </a:p>
          <a:p>
            <a:r>
              <a:rPr lang="en-US" b="1" dirty="0"/>
              <a:t>When:</a:t>
            </a:r>
            <a:endParaRPr lang="en-US" dirty="0"/>
          </a:p>
          <a:p>
            <a:r>
              <a:rPr lang="en-US" dirty="0"/>
              <a:t>Payment is inserted</a:t>
            </a:r>
          </a:p>
          <a:p>
            <a:r>
              <a:rPr lang="en-US" dirty="0"/>
              <a:t>Payment is updated</a:t>
            </a:r>
          </a:p>
          <a:p>
            <a:r>
              <a:rPr lang="en-US" dirty="0"/>
              <a:t>Payment is deleted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7796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14E97-ACDE-EEDA-0B1B-06840105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58E8A-8442-A2F1-6223-07F8CCBF5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Features</a:t>
            </a:r>
            <a:endParaRPr lang="en-US" dirty="0"/>
          </a:p>
          <a:p>
            <a:r>
              <a:rPr lang="en-US" dirty="0"/>
              <a:t>Secure Login System</a:t>
            </a:r>
          </a:p>
          <a:p>
            <a:r>
              <a:rPr lang="en-US" dirty="0"/>
              <a:t>Dashboard with KPIs</a:t>
            </a:r>
          </a:p>
          <a:p>
            <a:r>
              <a:rPr lang="en-US" dirty="0"/>
              <a:t>Sales Data View</a:t>
            </a:r>
          </a:p>
          <a:p>
            <a:r>
              <a:rPr lang="en-US" dirty="0"/>
              <a:t>Add Payment Functionality</a:t>
            </a:r>
          </a:p>
          <a:p>
            <a:r>
              <a:rPr lang="en-US" dirty="0"/>
              <a:t>Automatic Updates using Triggers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1494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1D06-1592-B07A-6446-6D212E7D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" y="320040"/>
            <a:ext cx="11102340" cy="1066800"/>
          </a:xfrm>
        </p:spPr>
        <p:txBody>
          <a:bodyPr/>
          <a:lstStyle/>
          <a:p>
            <a:r>
              <a:rPr lang="en-IN" dirty="0"/>
              <a:t>LOGIN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08AC30-F7FE-A457-ACE6-AC2CB7254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165861"/>
            <a:ext cx="10449478" cy="477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54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D0854A-B084-02C2-2061-D9C213CB6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23" y="885060"/>
            <a:ext cx="10550012" cy="508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33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0A001D-F07B-8A00-F9AA-78E79AFED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57" y="393290"/>
            <a:ext cx="10550090" cy="578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05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5CD0-7F5A-6339-480D-102DDD116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121920"/>
            <a:ext cx="10904220" cy="1362750"/>
          </a:xfrm>
        </p:spPr>
        <p:txBody>
          <a:bodyPr/>
          <a:lstStyle/>
          <a:p>
            <a:r>
              <a:rPr lang="en-IN" dirty="0"/>
              <a:t>  DASHBOARD OUTPUT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73BA363-71B2-3615-FA63-A642C05B6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7" y="1013214"/>
            <a:ext cx="10712385" cy="553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50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8FAA-731E-E07B-A256-687F1D344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DATA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5B1AB-060E-37E5-A92B-9F1E68062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Sales Data Table</a:t>
            </a:r>
            <a:endParaRPr lang="en-US" dirty="0"/>
          </a:p>
          <a:p>
            <a:r>
              <a:rPr lang="en-US" dirty="0"/>
              <a:t>Customer details</a:t>
            </a:r>
          </a:p>
          <a:p>
            <a:r>
              <a:rPr lang="en-US" dirty="0"/>
              <a:t>Gross Sales</a:t>
            </a:r>
          </a:p>
          <a:p>
            <a:r>
              <a:rPr lang="en-US" dirty="0"/>
              <a:t>Received Amount</a:t>
            </a:r>
          </a:p>
          <a:p>
            <a:r>
              <a:rPr lang="en-US" dirty="0"/>
              <a:t>Pending Amount</a:t>
            </a:r>
          </a:p>
          <a:p>
            <a:r>
              <a:rPr lang="en-US" dirty="0"/>
              <a:t>Status (Open / Close)</a:t>
            </a:r>
          </a:p>
        </p:txBody>
      </p:sp>
    </p:spTree>
    <p:extLst>
      <p:ext uri="{BB962C8B-B14F-4D97-AF65-F5344CB8AC3E}">
        <p14:creationId xmlns:p14="http://schemas.microsoft.com/office/powerpoint/2010/main" val="819898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184BC3-1989-26DD-26D9-DED504112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" y="1179871"/>
            <a:ext cx="11503742" cy="436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20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9DB93-E9E0-83D4-4D5C-E8303624A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0981"/>
            <a:ext cx="10896600" cy="1104900"/>
          </a:xfrm>
        </p:spPr>
        <p:txBody>
          <a:bodyPr/>
          <a:lstStyle/>
          <a:p>
            <a:r>
              <a:rPr lang="en-IN" dirty="0"/>
              <a:t>       ADD PAYMENT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A4AF7-5864-E652-2620-C64367D38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841"/>
            <a:ext cx="10965180" cy="5087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Add Payment Feature</a:t>
            </a:r>
            <a:endParaRPr lang="en-US" sz="3600" dirty="0"/>
          </a:p>
          <a:p>
            <a:r>
              <a:rPr lang="en-US" sz="3600" dirty="0"/>
              <a:t>User can add payment</a:t>
            </a:r>
          </a:p>
          <a:p>
            <a:r>
              <a:rPr lang="en-US" sz="3600" dirty="0"/>
              <a:t>Trigger automatically updates:</a:t>
            </a:r>
          </a:p>
          <a:p>
            <a:pPr lvl="1"/>
            <a:r>
              <a:rPr lang="en-US" sz="3600" dirty="0"/>
              <a:t>received amount</a:t>
            </a:r>
          </a:p>
          <a:p>
            <a:pPr lvl="1"/>
            <a:r>
              <a:rPr lang="en-US" sz="3600" dirty="0"/>
              <a:t>pending amount</a:t>
            </a:r>
          </a:p>
          <a:p>
            <a:pPr lvl="1"/>
            <a:r>
              <a:rPr lang="en-US" sz="3600" dirty="0"/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584711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8140-EC98-3940-9873-BAE9143E5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-80625"/>
            <a:ext cx="11064240" cy="835006"/>
          </a:xfrm>
        </p:spPr>
        <p:txBody>
          <a:bodyPr/>
          <a:lstStyle/>
          <a:p>
            <a:r>
              <a:rPr lang="en-IN" dirty="0"/>
              <a:t>SQL QUERIES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D0BDF-1EF3-5EB9-83B5-61314C137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" y="670560"/>
            <a:ext cx="11597640" cy="5859781"/>
          </a:xfrm>
        </p:spPr>
        <p:txBody>
          <a:bodyPr>
            <a:normAutofit/>
          </a:bodyPr>
          <a:lstStyle/>
          <a:p>
            <a:r>
              <a:rPr lang="en-IN" b="1" dirty="0"/>
              <a:t>BASIC QUERIES (5)</a:t>
            </a:r>
          </a:p>
          <a:p>
            <a:r>
              <a:rPr lang="en-IN" dirty="0"/>
              <a:t>1. Retrieve all records from </a:t>
            </a:r>
            <a:r>
              <a:rPr lang="en-IN" dirty="0" err="1"/>
              <a:t>customer_sales</a:t>
            </a:r>
            <a:br>
              <a:rPr lang="en-IN" dirty="0"/>
            </a:br>
            <a:r>
              <a:rPr lang="en-IN" dirty="0"/>
              <a:t>SELECT * FROM </a:t>
            </a:r>
            <a:r>
              <a:rPr lang="en-IN" dirty="0" err="1"/>
              <a:t>customer_sales</a:t>
            </a:r>
            <a:r>
              <a:rPr lang="en-IN" dirty="0"/>
              <a:t>;</a:t>
            </a:r>
          </a:p>
          <a:p>
            <a:r>
              <a:rPr lang="en-IN" dirty="0"/>
              <a:t>2. Retrieve all records from branches</a:t>
            </a:r>
            <a:br>
              <a:rPr lang="en-IN" dirty="0"/>
            </a:br>
            <a:r>
              <a:rPr lang="en-IN" dirty="0"/>
              <a:t>SELECT * FROM branches;</a:t>
            </a:r>
          </a:p>
          <a:p>
            <a:r>
              <a:rPr lang="en-IN" dirty="0"/>
              <a:t>3. Retrieve all records from </a:t>
            </a:r>
            <a:r>
              <a:rPr lang="en-IN" dirty="0" err="1"/>
              <a:t>payment_splits</a:t>
            </a:r>
            <a:br>
              <a:rPr lang="en-IN" dirty="0"/>
            </a:br>
            <a:r>
              <a:rPr lang="en-IN" dirty="0"/>
              <a:t>SELECT * FROM </a:t>
            </a:r>
            <a:r>
              <a:rPr lang="en-IN" dirty="0" err="1"/>
              <a:t>payment_splits</a:t>
            </a:r>
            <a:r>
              <a:rPr lang="en-IN" dirty="0"/>
              <a:t>;</a:t>
            </a:r>
          </a:p>
          <a:p>
            <a:r>
              <a:rPr lang="en-IN" dirty="0"/>
              <a:t>4.  Display all sales with status = 'Open'</a:t>
            </a:r>
            <a:br>
              <a:rPr lang="en-IN" dirty="0"/>
            </a:br>
            <a:r>
              <a:rPr lang="en-IN" dirty="0"/>
              <a:t>SELECT * FROM customer sales  </a:t>
            </a:r>
            <a:br>
              <a:rPr lang="en-IN" dirty="0"/>
            </a:br>
            <a:r>
              <a:rPr lang="en-IN" dirty="0"/>
              <a:t>WHERE status = 'Open’;</a:t>
            </a:r>
          </a:p>
          <a:p>
            <a:r>
              <a:rPr lang="en-IN" dirty="0"/>
              <a:t>5. Retrieve all sales belonging to Chennai branch</a:t>
            </a:r>
            <a:br>
              <a:rPr lang="en-IN" dirty="0"/>
            </a:br>
            <a:r>
              <a:rPr lang="en-IN" dirty="0"/>
              <a:t>SELECT cs.*</a:t>
            </a:r>
            <a:br>
              <a:rPr lang="en-IN" dirty="0"/>
            </a:br>
            <a:r>
              <a:rPr lang="en-IN" dirty="0"/>
              <a:t>FROM </a:t>
            </a:r>
            <a:r>
              <a:rPr lang="en-IN" dirty="0" err="1"/>
              <a:t>customer_sales</a:t>
            </a:r>
            <a:r>
              <a:rPr lang="en-IN" dirty="0"/>
              <a:t> cs</a:t>
            </a:r>
            <a:br>
              <a:rPr lang="en-IN" dirty="0"/>
            </a:br>
            <a:r>
              <a:rPr lang="en-IN" dirty="0"/>
              <a:t>JOIN branches b ON </a:t>
            </a:r>
            <a:r>
              <a:rPr lang="en-IN" dirty="0" err="1"/>
              <a:t>cs.branch_id</a:t>
            </a:r>
            <a:r>
              <a:rPr lang="en-IN" dirty="0"/>
              <a:t> = </a:t>
            </a:r>
            <a:r>
              <a:rPr lang="en-IN" dirty="0" err="1"/>
              <a:t>b.branch_id</a:t>
            </a:r>
            <a:br>
              <a:rPr lang="en-IN" dirty="0"/>
            </a:br>
            <a:r>
              <a:rPr lang="en-IN" dirty="0"/>
              <a:t>WHERE </a:t>
            </a:r>
            <a:r>
              <a:rPr lang="en-IN" dirty="0" err="1"/>
              <a:t>b.branch_name</a:t>
            </a:r>
            <a:r>
              <a:rPr lang="en-IN" dirty="0"/>
              <a:t> = 'Chennai';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236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A203-FA15-C183-2C77-AC3334C04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" y="121921"/>
            <a:ext cx="11101847" cy="64794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AGGREGATION QUERIES (5)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1939F-9E0D-A280-8126-2C823E97D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0960" y="769865"/>
            <a:ext cx="11368547" cy="5747201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IN" dirty="0"/>
              <a:t>Total gross sales across all branches</a:t>
            </a:r>
            <a:br>
              <a:rPr lang="en-IN" dirty="0"/>
            </a:br>
            <a:r>
              <a:rPr lang="en-IN" dirty="0"/>
              <a:t>SELECT SUM(</a:t>
            </a:r>
            <a:r>
              <a:rPr lang="en-IN" dirty="0" err="1"/>
              <a:t>gross_sales</a:t>
            </a:r>
            <a:r>
              <a:rPr lang="en-IN" dirty="0"/>
              <a:t>) AS </a:t>
            </a:r>
            <a:r>
              <a:rPr lang="en-IN" dirty="0" err="1"/>
              <a:t>total_gross_sales</a:t>
            </a:r>
            <a:br>
              <a:rPr lang="en-IN" dirty="0"/>
            </a:br>
            <a:r>
              <a:rPr lang="en-IN" dirty="0"/>
              <a:t>FROM </a:t>
            </a:r>
            <a:r>
              <a:rPr lang="en-IN" dirty="0" err="1"/>
              <a:t>customer_sales</a:t>
            </a:r>
            <a:r>
              <a:rPr lang="en-IN" dirty="0"/>
              <a:t>;</a:t>
            </a:r>
          </a:p>
          <a:p>
            <a:pPr marL="514350" indent="-514350">
              <a:buAutoNum type="arabicPeriod"/>
            </a:pPr>
            <a:r>
              <a:rPr lang="en-IN" dirty="0"/>
              <a:t>Total received amount</a:t>
            </a:r>
            <a:br>
              <a:rPr lang="en-IN" dirty="0"/>
            </a:br>
            <a:r>
              <a:rPr lang="en-IN" dirty="0"/>
              <a:t>SELECT SUM(</a:t>
            </a:r>
            <a:r>
              <a:rPr lang="en-IN" dirty="0" err="1"/>
              <a:t>received_amount</a:t>
            </a:r>
            <a:r>
              <a:rPr lang="en-IN" dirty="0"/>
              <a:t>) AS </a:t>
            </a:r>
            <a:r>
              <a:rPr lang="en-IN" dirty="0" err="1"/>
              <a:t>total_received</a:t>
            </a:r>
            <a:br>
              <a:rPr lang="en-IN" dirty="0"/>
            </a:br>
            <a:r>
              <a:rPr lang="en-IN" dirty="0"/>
              <a:t>FROM </a:t>
            </a:r>
            <a:r>
              <a:rPr lang="en-IN" dirty="0" err="1"/>
              <a:t>customer_sales</a:t>
            </a:r>
            <a:r>
              <a:rPr lang="en-IN" dirty="0"/>
              <a:t>;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IN" dirty="0"/>
              <a:t>Total pending amount</a:t>
            </a:r>
            <a:br>
              <a:rPr lang="en-IN" dirty="0"/>
            </a:br>
            <a:r>
              <a:rPr lang="en-IN" dirty="0"/>
              <a:t>SELECT SUM(</a:t>
            </a:r>
            <a:r>
              <a:rPr lang="en-IN" dirty="0" err="1"/>
              <a:t>pending_amount</a:t>
            </a:r>
            <a:r>
              <a:rPr lang="en-IN" dirty="0"/>
              <a:t>) AS </a:t>
            </a:r>
            <a:r>
              <a:rPr lang="en-IN" dirty="0" err="1"/>
              <a:t>total_pending</a:t>
            </a:r>
            <a:br>
              <a:rPr lang="en-IN" dirty="0"/>
            </a:br>
            <a:r>
              <a:rPr lang="en-IN" dirty="0"/>
              <a:t>FROM </a:t>
            </a:r>
            <a:r>
              <a:rPr lang="en-IN" dirty="0" err="1"/>
              <a:t>customer_sales</a:t>
            </a:r>
            <a:r>
              <a:rPr lang="en-IN" dirty="0"/>
              <a:t>;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IN" dirty="0"/>
              <a:t>. Count total sales per branch</a:t>
            </a:r>
            <a:br>
              <a:rPr lang="en-IN" dirty="0"/>
            </a:br>
            <a:r>
              <a:rPr lang="en-IN" dirty="0"/>
              <a:t>SELECT </a:t>
            </a:r>
            <a:r>
              <a:rPr lang="en-IN" dirty="0" err="1"/>
              <a:t>branch_id</a:t>
            </a:r>
            <a:r>
              <a:rPr lang="en-IN" dirty="0"/>
              <a:t>, COUNT(*) AS </a:t>
            </a:r>
            <a:r>
              <a:rPr lang="en-IN" dirty="0" err="1"/>
              <a:t>total_sales</a:t>
            </a:r>
            <a:br>
              <a:rPr lang="en-IN" dirty="0"/>
            </a:br>
            <a:r>
              <a:rPr lang="en-IN" dirty="0"/>
              <a:t>FROM </a:t>
            </a:r>
            <a:r>
              <a:rPr lang="en-IN" dirty="0" err="1"/>
              <a:t>customer_sales</a:t>
            </a:r>
            <a:br>
              <a:rPr lang="en-IN" dirty="0"/>
            </a:br>
            <a:r>
              <a:rPr lang="en-IN" dirty="0"/>
              <a:t>GROUP BY </a:t>
            </a:r>
            <a:r>
              <a:rPr lang="en-IN" dirty="0" err="1"/>
              <a:t>branch_id</a:t>
            </a:r>
            <a:r>
              <a:rPr lang="en-IN" dirty="0"/>
              <a:t>;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IN" dirty="0"/>
              <a:t>. Average gross sales</a:t>
            </a:r>
            <a:br>
              <a:rPr lang="en-IN" dirty="0"/>
            </a:br>
            <a:r>
              <a:rPr lang="en-IN" dirty="0"/>
              <a:t>SELECT AVG(</a:t>
            </a:r>
            <a:r>
              <a:rPr lang="en-IN" dirty="0" err="1"/>
              <a:t>gross_sales</a:t>
            </a:r>
            <a:r>
              <a:rPr lang="en-IN" dirty="0"/>
              <a:t>) AS </a:t>
            </a:r>
            <a:r>
              <a:rPr lang="en-IN" dirty="0" err="1"/>
              <a:t>avg_sales</a:t>
            </a:r>
            <a:br>
              <a:rPr lang="en-IN" dirty="0"/>
            </a:br>
            <a:r>
              <a:rPr lang="en-IN" dirty="0"/>
              <a:t>FROM </a:t>
            </a:r>
            <a:r>
              <a:rPr lang="en-IN" dirty="0" err="1"/>
              <a:t>customer_sales</a:t>
            </a:r>
            <a:r>
              <a:rPr lang="en-IN" dirty="0"/>
              <a:t>;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IN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IN" dirty="0"/>
          </a:p>
          <a:p>
            <a:pPr marL="514350" indent="-514350">
              <a:buAutoNum type="arabicPeriod"/>
            </a:pPr>
            <a:endParaRPr lang="en-IN" dirty="0"/>
          </a:p>
          <a:p>
            <a:pPr marL="514350" indent="-514350">
              <a:buAutoNum type="arabicPeriod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604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345D5-E78A-0F1C-B9BC-37449EB3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60" y="365125"/>
            <a:ext cx="10325100" cy="61722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JOIN QUERIES (3)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578F-E829-18AA-9CDD-70156EBF5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" y="1005840"/>
            <a:ext cx="11617549" cy="5487035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IN" dirty="0"/>
              <a:t>Sales with branch name</a:t>
            </a:r>
            <a:br>
              <a:rPr lang="en-IN" dirty="0"/>
            </a:br>
            <a:r>
              <a:rPr lang="en-IN" dirty="0"/>
              <a:t>SELECT </a:t>
            </a:r>
            <a:r>
              <a:rPr lang="en-IN" dirty="0" err="1"/>
              <a:t>cs.sale_id</a:t>
            </a:r>
            <a:r>
              <a:rPr lang="en-IN" dirty="0"/>
              <a:t>, cs.name, </a:t>
            </a:r>
            <a:r>
              <a:rPr lang="en-IN" dirty="0" err="1"/>
              <a:t>b.branch_name</a:t>
            </a:r>
            <a:br>
              <a:rPr lang="en-IN" dirty="0"/>
            </a:br>
            <a:r>
              <a:rPr lang="en-IN" dirty="0"/>
              <a:t>FROM </a:t>
            </a:r>
            <a:r>
              <a:rPr lang="en-IN" dirty="0" err="1"/>
              <a:t>customer_sales</a:t>
            </a:r>
            <a:r>
              <a:rPr lang="en-IN" dirty="0"/>
              <a:t> cs</a:t>
            </a:r>
            <a:br>
              <a:rPr lang="en-IN" dirty="0"/>
            </a:br>
            <a:r>
              <a:rPr lang="en-IN" dirty="0"/>
              <a:t>JOIN branches b ON </a:t>
            </a:r>
            <a:r>
              <a:rPr lang="en-IN" dirty="0" err="1"/>
              <a:t>cs.branch_id</a:t>
            </a:r>
            <a:r>
              <a:rPr lang="en-IN" dirty="0"/>
              <a:t> = </a:t>
            </a:r>
            <a:r>
              <a:rPr lang="en-IN" dirty="0" err="1"/>
              <a:t>b.branch_id</a:t>
            </a:r>
            <a:r>
              <a:rPr lang="en-IN" dirty="0"/>
              <a:t>;</a:t>
            </a:r>
          </a:p>
          <a:p>
            <a:pPr marL="514350" indent="-514350">
              <a:buAutoNum type="arabicPeriod"/>
            </a:pPr>
            <a:r>
              <a:rPr lang="en-IN" dirty="0"/>
              <a:t>Sales with total payment received</a:t>
            </a:r>
            <a:br>
              <a:rPr lang="en-IN" dirty="0"/>
            </a:br>
            <a:r>
              <a:rPr lang="en-IN" dirty="0"/>
              <a:t>SELECT </a:t>
            </a:r>
            <a:r>
              <a:rPr lang="en-IN" dirty="0" err="1"/>
              <a:t>cs.sale_id</a:t>
            </a:r>
            <a:r>
              <a:rPr lang="en-IN" dirty="0"/>
              <a:t>, cs.name, SUM(</a:t>
            </a:r>
            <a:r>
              <a:rPr lang="en-IN" dirty="0" err="1"/>
              <a:t>ps.amount_paid</a:t>
            </a:r>
            <a:r>
              <a:rPr lang="en-IN" dirty="0"/>
              <a:t>) AS </a:t>
            </a:r>
            <a:r>
              <a:rPr lang="en-IN" dirty="0" err="1"/>
              <a:t>total_paid</a:t>
            </a:r>
            <a:br>
              <a:rPr lang="en-IN" dirty="0"/>
            </a:br>
            <a:r>
              <a:rPr lang="en-IN" dirty="0"/>
              <a:t>FROM </a:t>
            </a:r>
            <a:r>
              <a:rPr lang="en-IN" dirty="0" err="1"/>
              <a:t>customer_sales</a:t>
            </a:r>
            <a:r>
              <a:rPr lang="en-IN" dirty="0"/>
              <a:t> cs</a:t>
            </a:r>
            <a:br>
              <a:rPr lang="en-IN" dirty="0"/>
            </a:br>
            <a:r>
              <a:rPr lang="en-IN" dirty="0"/>
              <a:t>JOIN </a:t>
            </a:r>
            <a:r>
              <a:rPr lang="en-IN" dirty="0" err="1"/>
              <a:t>payment_splits</a:t>
            </a:r>
            <a:r>
              <a:rPr lang="en-IN" dirty="0"/>
              <a:t> </a:t>
            </a:r>
            <a:r>
              <a:rPr lang="en-IN" dirty="0" err="1"/>
              <a:t>ps</a:t>
            </a:r>
            <a:r>
              <a:rPr lang="en-IN" dirty="0"/>
              <a:t> ON </a:t>
            </a:r>
            <a:r>
              <a:rPr lang="en-IN" dirty="0" err="1"/>
              <a:t>cs.sale_id</a:t>
            </a:r>
            <a:r>
              <a:rPr lang="en-IN" dirty="0"/>
              <a:t> = </a:t>
            </a:r>
            <a:r>
              <a:rPr lang="en-IN" dirty="0" err="1"/>
              <a:t>ps.sale_id</a:t>
            </a:r>
            <a:br>
              <a:rPr lang="en-IN" dirty="0"/>
            </a:br>
            <a:r>
              <a:rPr lang="en-IN" dirty="0"/>
              <a:t>GROUP BY </a:t>
            </a:r>
            <a:r>
              <a:rPr lang="en-IN" dirty="0" err="1"/>
              <a:t>cs.sale_id</a:t>
            </a:r>
            <a:r>
              <a:rPr lang="en-IN" dirty="0"/>
              <a:t>, cs.name;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IN" dirty="0"/>
              <a:t>Branch-wise total gross sales</a:t>
            </a:r>
            <a:br>
              <a:rPr lang="en-IN" dirty="0"/>
            </a:br>
            <a:r>
              <a:rPr lang="en-IN" dirty="0"/>
              <a:t>SELECT </a:t>
            </a:r>
            <a:r>
              <a:rPr lang="en-IN" dirty="0" err="1"/>
              <a:t>b.branch_name</a:t>
            </a:r>
            <a:r>
              <a:rPr lang="en-IN" dirty="0"/>
              <a:t>, SUM(</a:t>
            </a:r>
            <a:r>
              <a:rPr lang="en-IN" dirty="0" err="1"/>
              <a:t>cs.gross_sales</a:t>
            </a:r>
            <a:r>
              <a:rPr lang="en-IN" dirty="0"/>
              <a:t>) AS </a:t>
            </a:r>
            <a:r>
              <a:rPr lang="en-IN" dirty="0" err="1"/>
              <a:t>total_sales</a:t>
            </a:r>
            <a:br>
              <a:rPr lang="en-IN" dirty="0"/>
            </a:br>
            <a:r>
              <a:rPr lang="en-IN" dirty="0"/>
              <a:t>FROM </a:t>
            </a:r>
            <a:r>
              <a:rPr lang="en-IN" dirty="0" err="1"/>
              <a:t>customer_sales</a:t>
            </a:r>
            <a:r>
              <a:rPr lang="en-IN" dirty="0"/>
              <a:t> cs</a:t>
            </a:r>
            <a:br>
              <a:rPr lang="en-IN" dirty="0"/>
            </a:br>
            <a:r>
              <a:rPr lang="en-IN" dirty="0"/>
              <a:t>JOIN branches b ON </a:t>
            </a:r>
            <a:r>
              <a:rPr lang="en-IN" dirty="0" err="1"/>
              <a:t>cs.branch_id</a:t>
            </a:r>
            <a:r>
              <a:rPr lang="en-IN" dirty="0"/>
              <a:t> = </a:t>
            </a:r>
            <a:r>
              <a:rPr lang="en-IN" dirty="0" err="1"/>
              <a:t>b.branch_id</a:t>
            </a:r>
            <a:br>
              <a:rPr lang="en-IN" dirty="0"/>
            </a:br>
            <a:r>
              <a:rPr lang="en-IN" dirty="0"/>
              <a:t>GROUP BY </a:t>
            </a:r>
            <a:r>
              <a:rPr lang="en-IN" dirty="0" err="1"/>
              <a:t>b.branch_name</a:t>
            </a:r>
            <a:r>
              <a:rPr lang="en-IN" dirty="0"/>
              <a:t>;</a:t>
            </a:r>
          </a:p>
          <a:p>
            <a:pPr marL="514350" indent="-514350">
              <a:buAutoNum type="arabicPeriod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004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7F13-A85C-DB2A-0E4A-DA9706D9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182880"/>
            <a:ext cx="10546080" cy="64008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FINANCIAL QUERIES (2)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8EB5-88D3-0290-23D5-3D6AE482A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" y="739140"/>
            <a:ext cx="11155680" cy="543782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1. Sales where pending &gt; 5000</a:t>
            </a:r>
            <a:br>
              <a:rPr lang="en-IN" dirty="0"/>
            </a:br>
            <a:r>
              <a:rPr lang="en-IN" dirty="0"/>
              <a:t>SELECT * FROM </a:t>
            </a:r>
            <a:r>
              <a:rPr lang="en-IN" dirty="0" err="1"/>
              <a:t>customer_sales</a:t>
            </a:r>
            <a:br>
              <a:rPr lang="en-IN" dirty="0"/>
            </a:br>
            <a:r>
              <a:rPr lang="en-IN" dirty="0"/>
              <a:t>WHERE </a:t>
            </a:r>
            <a:r>
              <a:rPr lang="en-IN" dirty="0" err="1"/>
              <a:t>pending_amount</a:t>
            </a:r>
            <a:r>
              <a:rPr lang="en-IN" dirty="0"/>
              <a:t> &gt; 5000;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 Payment method-wise total collection</a:t>
            </a:r>
            <a:br>
              <a:rPr lang="en-IN" dirty="0"/>
            </a:br>
            <a:r>
              <a:rPr lang="en-IN" dirty="0"/>
              <a:t>SELECT </a:t>
            </a:r>
            <a:r>
              <a:rPr lang="en-IN" dirty="0" err="1"/>
              <a:t>payment_method</a:t>
            </a:r>
            <a:r>
              <a:rPr lang="en-IN" dirty="0"/>
              <a:t>, SUM(</a:t>
            </a:r>
            <a:r>
              <a:rPr lang="en-IN" dirty="0" err="1"/>
              <a:t>amount_paid</a:t>
            </a:r>
            <a:r>
              <a:rPr lang="en-IN" dirty="0"/>
              <a:t>) AS total</a:t>
            </a:r>
            <a:br>
              <a:rPr lang="en-IN" dirty="0"/>
            </a:br>
            <a:r>
              <a:rPr lang="en-IN" dirty="0"/>
              <a:t>FROM </a:t>
            </a:r>
            <a:r>
              <a:rPr lang="en-IN" dirty="0" err="1"/>
              <a:t>payment_splits</a:t>
            </a:r>
            <a:br>
              <a:rPr lang="en-IN" dirty="0"/>
            </a:br>
            <a:r>
              <a:rPr lang="en-IN" dirty="0"/>
              <a:t>GROUP BY </a:t>
            </a:r>
            <a:r>
              <a:rPr lang="en-IN" dirty="0" err="1"/>
              <a:t>payment_method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229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CA980-9251-5CB9-6BEC-66CB6065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" y="152401"/>
            <a:ext cx="10492740" cy="990600"/>
          </a:xfrm>
        </p:spPr>
        <p:txBody>
          <a:bodyPr/>
          <a:lstStyle/>
          <a:p>
            <a:r>
              <a:rPr lang="en-IN" dirty="0"/>
              <a:t>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10DFE-169E-3376-5FE8-3B50B38AC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51560"/>
            <a:ext cx="11049000" cy="506364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Conclusion</a:t>
            </a:r>
            <a:endParaRPr lang="en-US" dirty="0"/>
          </a:p>
          <a:p>
            <a:r>
              <a:rPr lang="en-US" dirty="0"/>
              <a:t>Successfully developed a Sales Management System</a:t>
            </a:r>
          </a:p>
          <a:p>
            <a:r>
              <a:rPr lang="en-US" dirty="0"/>
              <a:t>Reduced manual effort</a:t>
            </a:r>
          </a:p>
          <a:p>
            <a:r>
              <a:rPr lang="en-US" dirty="0"/>
              <a:t>Ensured data accuracy</a:t>
            </a:r>
          </a:p>
          <a:p>
            <a:r>
              <a:rPr lang="en-US" dirty="0"/>
              <a:t>Demonstrated real-time updates using triggers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5220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81D2-DB59-9914-7351-D60DA82D2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" y="1"/>
            <a:ext cx="11209020" cy="1333499"/>
          </a:xfrm>
        </p:spPr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D9231-1EB5-57F4-629A-398CB75B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" y="1211580"/>
            <a:ext cx="11262360" cy="490442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Future Enhancements</a:t>
            </a:r>
            <a:endParaRPr lang="en-US" dirty="0"/>
          </a:p>
          <a:p>
            <a:r>
              <a:rPr lang="en-US" dirty="0"/>
              <a:t>Role-based access control</a:t>
            </a:r>
          </a:p>
          <a:p>
            <a:r>
              <a:rPr lang="en-US" dirty="0"/>
              <a:t>Advanced reports</a:t>
            </a:r>
          </a:p>
          <a:p>
            <a:r>
              <a:rPr lang="en-US" dirty="0"/>
              <a:t>Export to Excel/PDF</a:t>
            </a:r>
          </a:p>
          <a:p>
            <a:r>
              <a:rPr lang="en-IN" dirty="0"/>
              <a:t>Improved UI design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238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A27BD3-B11E-7B11-C5C1-40C234CDBFAC}"/>
              </a:ext>
            </a:extLst>
          </p:cNvPr>
          <p:cNvSpPr txBox="1"/>
          <p:nvPr/>
        </p:nvSpPr>
        <p:spPr>
          <a:xfrm>
            <a:off x="1278194" y="1066799"/>
            <a:ext cx="1031403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dirty="0"/>
              <a:t> THANK YOU</a:t>
            </a:r>
          </a:p>
        </p:txBody>
      </p:sp>
    </p:spTree>
    <p:extLst>
      <p:ext uri="{BB962C8B-B14F-4D97-AF65-F5344CB8AC3E}">
        <p14:creationId xmlns:p14="http://schemas.microsoft.com/office/powerpoint/2010/main" val="18831622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126</TotalTime>
  <Words>744</Words>
  <Application>Microsoft Office PowerPoint</Application>
  <PresentationFormat>Widescreen</PresentationFormat>
  <Paragraphs>109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Century Gothic</vt:lpstr>
      <vt:lpstr>Wingdings 3</vt:lpstr>
      <vt:lpstr>Ion</vt:lpstr>
      <vt:lpstr>Sales Management System</vt:lpstr>
      <vt:lpstr>       PROBLEM STATEMENT</vt:lpstr>
      <vt:lpstr>OBJECTIVE</vt:lpstr>
      <vt:lpstr>TECHNOLOGIES USED</vt:lpstr>
      <vt:lpstr>DATABASE DESIGN</vt:lpstr>
      <vt:lpstr>  Database Tables Structure</vt:lpstr>
      <vt:lpstr>   SYSTEM ARCHITECTURE</vt:lpstr>
      <vt:lpstr>TRIGGERS</vt:lpstr>
      <vt:lpstr>FEATURES</vt:lpstr>
      <vt:lpstr>LOGIN PAGE</vt:lpstr>
      <vt:lpstr>PowerPoint Presentation</vt:lpstr>
      <vt:lpstr>PowerPoint Presentation</vt:lpstr>
      <vt:lpstr>  DASHBOARD OUTPUT</vt:lpstr>
      <vt:lpstr>SALES DATA OUTPUT</vt:lpstr>
      <vt:lpstr>PowerPoint Presentation</vt:lpstr>
      <vt:lpstr>       ADD PAYMENT</vt:lpstr>
      <vt:lpstr>SQL QUERIES IMPLEMENTED</vt:lpstr>
      <vt:lpstr>AGGREGATION QUERIES (5) </vt:lpstr>
      <vt:lpstr>JOIN QUERIES (3) </vt:lpstr>
      <vt:lpstr>FINANCIAL QUERIES (2) </vt:lpstr>
      <vt:lpstr>   CONCLUSION</vt:lpstr>
      <vt:lpstr>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Thaheer A</dc:creator>
  <cp:lastModifiedBy>Thaheer A</cp:lastModifiedBy>
  <cp:revision>2</cp:revision>
  <dcterms:created xsi:type="dcterms:W3CDTF">2026-03-21T18:17:52Z</dcterms:created>
  <dcterms:modified xsi:type="dcterms:W3CDTF">2026-03-21T20:38:27Z</dcterms:modified>
</cp:coreProperties>
</file>